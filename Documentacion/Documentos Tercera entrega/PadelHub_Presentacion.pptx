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Lustria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OhNHZkGC+AOlTXkJZJHymeGss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ustri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028020" y="1769541"/>
            <a:ext cx="7080026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028020" y="3598339"/>
            <a:ext cx="7080026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971551" y="1761068"/>
            <a:ext cx="7192913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971551" y="3589879"/>
            <a:ext cx="7192913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685347" y="1732449"/>
            <a:ext cx="3795373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52169" y="1732450"/>
            <a:ext cx="3798499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SD-compPhotoInset.png" id="37" name="Google Shape;3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345" y="1770323"/>
            <a:ext cx="3787423" cy="4112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SD-compPhotoInset.png" id="38" name="Google Shape;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63245" y="1770323"/>
            <a:ext cx="3787423" cy="411295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7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754404" y="1835254"/>
            <a:ext cx="3657258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754404" y="2380138"/>
            <a:ext cx="3657258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20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40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40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4721225" y="1835255"/>
            <a:ext cx="3671498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4721225" y="2380138"/>
            <a:ext cx="3671498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20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40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40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685347" y="609600"/>
            <a:ext cx="2780167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3641725" y="609600"/>
            <a:ext cx="4808943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685347" y="2431518"/>
            <a:ext cx="2780167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SD-vertPhotoInset.png" id="64" name="Google Shape;6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4987" y="609923"/>
            <a:ext cx="3428146" cy="520547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1"/>
          <p:cNvSpPr txBox="1"/>
          <p:nvPr>
            <p:ph type="title"/>
          </p:nvPr>
        </p:nvSpPr>
        <p:spPr>
          <a:xfrm>
            <a:off x="685347" y="609923"/>
            <a:ext cx="3924676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b="0"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/>
          <p:nvPr>
            <p:ph idx="2" type="pic"/>
          </p:nvPr>
        </p:nvSpPr>
        <p:spPr>
          <a:xfrm>
            <a:off x="4976728" y="743989"/>
            <a:ext cx="3165375" cy="4912822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6078"/>
              </a:srgbClr>
            </a:outerShdw>
          </a:effectLst>
        </p:spPr>
      </p:sp>
      <p:sp>
        <p:nvSpPr>
          <p:cNvPr id="67" name="Google Shape;67;p21"/>
          <p:cNvSpPr txBox="1"/>
          <p:nvPr>
            <p:ph idx="1" type="body"/>
          </p:nvPr>
        </p:nvSpPr>
        <p:spPr>
          <a:xfrm>
            <a:off x="685347" y="2439261"/>
            <a:ext cx="3924676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SD-panoPhotoInset.png" id="72" name="Google Shape;7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95" y="540085"/>
            <a:ext cx="7656010" cy="38343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2"/>
          <p:cNvSpPr txBox="1"/>
          <p:nvPr>
            <p:ph type="title"/>
          </p:nvPr>
        </p:nvSpPr>
        <p:spPr>
          <a:xfrm>
            <a:off x="685354" y="4565255"/>
            <a:ext cx="7766495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/>
          <p:nvPr>
            <p:ph idx="2" type="pic"/>
          </p:nvPr>
        </p:nvSpPr>
        <p:spPr>
          <a:xfrm>
            <a:off x="926217" y="695010"/>
            <a:ext cx="7285600" cy="3525671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6078"/>
              </a:srgbClr>
            </a:outerShdw>
          </a:effectLst>
        </p:spPr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685346" y="5108728"/>
            <a:ext cx="776532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685346" y="608437"/>
            <a:ext cx="776532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685346" y="4295180"/>
            <a:ext cx="7765322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1084659" y="609600"/>
            <a:ext cx="6977064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290484" y="3610033"/>
            <a:ext cx="6564224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685346" y="4304353"/>
            <a:ext cx="7765322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92" name="Google Shape;92;p24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i="0" lang="es-CL" sz="8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93" name="Google Shape;93;p24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i="0" lang="es-CL" sz="8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685346" y="2126943"/>
            <a:ext cx="7765322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685339" y="4650556"/>
            <a:ext cx="776414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97" name="Google Shape;97;p25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685346" y="1885950"/>
            <a:ext cx="2475738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3" name="Google Shape;103;p26"/>
          <p:cNvSpPr txBox="1"/>
          <p:nvPr>
            <p:ph idx="2" type="body"/>
          </p:nvPr>
        </p:nvSpPr>
        <p:spPr>
          <a:xfrm>
            <a:off x="685346" y="2571750"/>
            <a:ext cx="2475738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4" name="Google Shape;104;p26"/>
          <p:cNvSpPr txBox="1"/>
          <p:nvPr>
            <p:ph idx="3" type="body"/>
          </p:nvPr>
        </p:nvSpPr>
        <p:spPr>
          <a:xfrm>
            <a:off x="3335033" y="1885950"/>
            <a:ext cx="2475738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5" name="Google Shape;105;p26"/>
          <p:cNvSpPr txBox="1"/>
          <p:nvPr>
            <p:ph idx="4" type="body"/>
          </p:nvPr>
        </p:nvSpPr>
        <p:spPr>
          <a:xfrm>
            <a:off x="3331076" y="2571750"/>
            <a:ext cx="2475738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6" name="Google Shape;106;p26"/>
          <p:cNvSpPr txBox="1"/>
          <p:nvPr>
            <p:ph idx="5" type="body"/>
          </p:nvPr>
        </p:nvSpPr>
        <p:spPr>
          <a:xfrm>
            <a:off x="5974929" y="1885950"/>
            <a:ext cx="2475738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7" name="Google Shape;107;p26"/>
          <p:cNvSpPr txBox="1"/>
          <p:nvPr>
            <p:ph idx="6" type="body"/>
          </p:nvPr>
        </p:nvSpPr>
        <p:spPr>
          <a:xfrm>
            <a:off x="5974929" y="2571750"/>
            <a:ext cx="2475738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8" name="Google Shape;108;p26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SD-3colPhotoInset.png" id="112" name="Google Shape;11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239" y="1826045"/>
            <a:ext cx="2529046" cy="1833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SD-3colPhotoInset.png" id="113" name="Google Shape;11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3813" y="1826045"/>
            <a:ext cx="2529046" cy="1833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SD-3colPhotoInset.png" id="114" name="Google Shape;1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21715" y="1826045"/>
            <a:ext cx="2529046" cy="1833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685346" y="3904106"/>
            <a:ext cx="2475738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17" name="Google Shape;117;p27"/>
          <p:cNvSpPr/>
          <p:nvPr>
            <p:ph idx="2" type="pic"/>
          </p:nvPr>
        </p:nvSpPr>
        <p:spPr>
          <a:xfrm>
            <a:off x="763577" y="1938918"/>
            <a:ext cx="2319276" cy="160295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6078"/>
              </a:srgbClr>
            </a:outerShdw>
          </a:effectLst>
        </p:spPr>
      </p:sp>
      <p:sp>
        <p:nvSpPr>
          <p:cNvPr id="118" name="Google Shape;118;p27"/>
          <p:cNvSpPr txBox="1"/>
          <p:nvPr>
            <p:ph idx="3" type="body"/>
          </p:nvPr>
        </p:nvSpPr>
        <p:spPr>
          <a:xfrm>
            <a:off x="685346" y="4480369"/>
            <a:ext cx="2475738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19" name="Google Shape;119;p27"/>
          <p:cNvSpPr txBox="1"/>
          <p:nvPr>
            <p:ph idx="4" type="body"/>
          </p:nvPr>
        </p:nvSpPr>
        <p:spPr>
          <a:xfrm>
            <a:off x="3332091" y="3904106"/>
            <a:ext cx="2475738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0" name="Google Shape;120;p27"/>
          <p:cNvSpPr/>
          <p:nvPr>
            <p:ph idx="5" type="pic"/>
          </p:nvPr>
        </p:nvSpPr>
        <p:spPr>
          <a:xfrm>
            <a:off x="3409307" y="1939094"/>
            <a:ext cx="2319276" cy="160816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6078"/>
              </a:srgbClr>
            </a:outerShdw>
          </a:effectLst>
        </p:spPr>
      </p:sp>
      <p:sp>
        <p:nvSpPr>
          <p:cNvPr id="121" name="Google Shape;121;p27"/>
          <p:cNvSpPr txBox="1"/>
          <p:nvPr>
            <p:ph idx="6" type="body"/>
          </p:nvPr>
        </p:nvSpPr>
        <p:spPr>
          <a:xfrm>
            <a:off x="3331075" y="4480368"/>
            <a:ext cx="2476753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2" name="Google Shape;122;p27"/>
          <p:cNvSpPr txBox="1"/>
          <p:nvPr>
            <p:ph idx="7" type="body"/>
          </p:nvPr>
        </p:nvSpPr>
        <p:spPr>
          <a:xfrm>
            <a:off x="5975023" y="3904106"/>
            <a:ext cx="2475738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3" name="Google Shape;123;p27"/>
          <p:cNvSpPr/>
          <p:nvPr>
            <p:ph idx="8" type="pic"/>
          </p:nvPr>
        </p:nvSpPr>
        <p:spPr>
          <a:xfrm>
            <a:off x="6056774" y="1934432"/>
            <a:ext cx="2319276" cy="160729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6078"/>
              </a:srgbClr>
            </a:outerShdw>
          </a:effectLst>
        </p:spPr>
      </p:sp>
      <p:sp>
        <p:nvSpPr>
          <p:cNvPr id="124" name="Google Shape;124;p27"/>
          <p:cNvSpPr txBox="1"/>
          <p:nvPr>
            <p:ph idx="9" type="body"/>
          </p:nvPr>
        </p:nvSpPr>
        <p:spPr>
          <a:xfrm>
            <a:off x="5974929" y="4480366"/>
            <a:ext cx="2475738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5" name="Google Shape;125;p27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 rot="5400000">
            <a:off x="2538632" y="-120835"/>
            <a:ext cx="4058751" cy="776532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 rot="5400000">
            <a:off x="5003184" y="2343718"/>
            <a:ext cx="5181601" cy="17133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 rot="5400000">
            <a:off x="1063373" y="231574"/>
            <a:ext cx="5181601" cy="59376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10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10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i="0" sz="4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b="0" i="0" sz="2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0861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b="0" i="0" sz="1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9972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083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083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9083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9083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9083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90830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1028020" y="1769541"/>
            <a:ext cx="7080026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</a:pPr>
            <a:r>
              <a:rPr lang="es-CL"/>
              <a:t>PadelHub</a:t>
            </a:r>
            <a:endParaRPr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1028020" y="3598339"/>
            <a:ext cx="7080026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>
                <a:solidFill>
                  <a:schemeClr val="lt1"/>
                </a:solidFill>
              </a:rPr>
              <a:t>Conectamos jugadores de pádel para organizar partidos</a:t>
            </a:r>
            <a:endParaRPr/>
          </a:p>
        </p:txBody>
      </p:sp>
      <p:pic>
        <p:nvPicPr>
          <p:cNvPr descr="El fenómeno detrás del pádel" id="146" name="Google Shape;1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87" y="4305864"/>
            <a:ext cx="4391714" cy="2476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ede el pádel ser deporte olímpico?" id="147" name="Google Shape;14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3927" y="4305863"/>
            <a:ext cx="4095461" cy="247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/>
              <a:t>Nuestro equipo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413209" y="2075466"/>
            <a:ext cx="2422688" cy="177223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rnd" cmpd="sng" w="15875">
            <a:solidFill>
              <a:srgbClr val="36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Felipe Martinez</a:t>
            </a:r>
            <a:br>
              <a:rPr b="0" i="0" lang="es-C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</a:br>
            <a:r>
              <a:rPr lang="es-CL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Backend</a:t>
            </a:r>
            <a:r>
              <a:rPr b="0" i="0" lang="es-C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/ DBA</a:t>
            </a:r>
            <a:endParaRPr/>
          </a:p>
        </p:txBody>
      </p:sp>
      <p:sp>
        <p:nvSpPr>
          <p:cNvPr id="154" name="Google Shape;154;p2"/>
          <p:cNvSpPr/>
          <p:nvPr/>
        </p:nvSpPr>
        <p:spPr>
          <a:xfrm>
            <a:off x="6300117" y="2075465"/>
            <a:ext cx="2422688" cy="177223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rnd" cmpd="sng" w="15875">
            <a:solidFill>
              <a:srgbClr val="36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Rafael Espinoza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Developer Team/ Frontend</a:t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3356621" y="2075528"/>
            <a:ext cx="2422800" cy="1772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rnd" cmpd="sng" w="15875">
            <a:solidFill>
              <a:srgbClr val="36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Diego Vicencio</a:t>
            </a:r>
            <a:br>
              <a:rPr b="0" i="0" lang="es-C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</a:br>
            <a:r>
              <a:rPr lang="es-CL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Product</a:t>
            </a:r>
            <a:r>
              <a:rPr b="0" i="0" lang="es-C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Owner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 sz="4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Descripción del Proyecto</a:t>
            </a:r>
            <a:endParaRPr/>
          </a:p>
        </p:txBody>
      </p:sp>
      <p:sp>
        <p:nvSpPr>
          <p:cNvPr id="161" name="Google Shape;161;p3"/>
          <p:cNvSpPr txBox="1"/>
          <p:nvPr>
            <p:ph idx="1" type="body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s-CL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PadelHub es una aplicación móvil que conecta jugadores de pádel para facilitar la organización de partidos de manera rápida y eficiente. Permite crear perfiles, buscar jugadores, crear partidos y coordinar horarios.</a:t>
            </a:r>
            <a:endParaRPr/>
          </a:p>
        </p:txBody>
      </p:sp>
      <p:pic>
        <p:nvPicPr>
          <p:cNvPr descr="what is padel | Direct Tennis" id="162" name="Google Shape;1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1031" y="3429000"/>
            <a:ext cx="4741682" cy="3161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 sz="4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Contexto del Proyecto</a:t>
            </a:r>
            <a:endParaRPr/>
          </a:p>
        </p:txBody>
      </p:sp>
      <p:sp>
        <p:nvSpPr>
          <p:cNvPr id="168" name="Google Shape;168;p4"/>
          <p:cNvSpPr txBox="1"/>
          <p:nvPr>
            <p:ph idx="1" type="body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s-CL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El crecimiento del pádel ha generado dificultades para organizar partidos: encontrar jugadores del mismo nivel, desorden en grupos de mensajería y cancelaciones frecuentes. PadelHub surge como una solución digital especializada.</a:t>
            </a:r>
            <a:endParaRPr/>
          </a:p>
        </p:txBody>
      </p:sp>
      <p:pic>
        <p:nvPicPr>
          <p:cNvPr descr="175.100+ Persona Preocupada Ilustraciones de Stock, gráficos vectoriales  libres de derechos y clip art - iStock | Preocupacion, Persona perdida,  Cara de preocupación" id="169" name="Google Shape;1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6410" y="3359476"/>
            <a:ext cx="4583194" cy="3055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5005632" y="609600"/>
            <a:ext cx="3379047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/>
              <a:t>Problemática</a:t>
            </a:r>
            <a:endParaRPr/>
          </a:p>
        </p:txBody>
      </p:sp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685346" y="1732450"/>
            <a:ext cx="7765322" cy="15441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r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s-CL"/>
              <a:t>Coordinación Ineficiente: El "caos" de los grupos de WhatsApp y la falta de confirmaciones inmediatas.</a:t>
            </a:r>
            <a:endParaRPr/>
          </a:p>
          <a:p>
            <a:pPr indent="-306000" lvl="0" marL="342900" rtl="0" algn="r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es-CL"/>
              <a:t>Niveles Desequilibrados: Partidos poco competitivos por falta de filtros técnicos entre jugadores.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685346" y="3581401"/>
            <a:ext cx="3198497" cy="89896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b="0" i="0" lang="es-CL" sz="4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Solución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837750" y="4480375"/>
            <a:ext cx="7765200" cy="1438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99333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◈"/>
            </a:pPr>
            <a:r>
              <a:rPr b="0" i="0" lang="es-CL" sz="2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Coordinación de partidos: Búsqueda y confirmación de partidos sin el ruido de grupos de WhatsApp.</a:t>
            </a:r>
            <a:endParaRPr/>
          </a:p>
          <a:p>
            <a:pPr indent="-299333" lvl="0" marL="342900" marR="0" rtl="0" algn="l">
              <a:spcBef>
                <a:spcPts val="97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Char char="◈"/>
            </a:pPr>
            <a:r>
              <a:rPr b="0" i="0" lang="es-CL" sz="2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Algoritmo de Nivelación: Implementación de Sistema de elo para acordar partidos con gente al nivel del jugador.</a:t>
            </a:r>
            <a:endParaRPr/>
          </a:p>
          <a:p>
            <a:pPr indent="-223767" lvl="0" marL="342900" marR="0" rtl="0" algn="l">
              <a:spcBef>
                <a:spcPts val="97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/>
              <a:t>¿Que es el ELO?</a:t>
            </a:r>
            <a:endParaRPr/>
          </a:p>
        </p:txBody>
      </p:sp>
      <p:sp>
        <p:nvSpPr>
          <p:cNvPr id="183" name="Google Shape;183;p7"/>
          <p:cNvSpPr txBox="1"/>
          <p:nvPr>
            <p:ph idx="1" type="body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69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Es un modelo matemático creado por Árpád Élő que se basa en estadística, para calcular la habilidad relativa de jugadores. Mayormente utilizado en el Ajedrez y Videojuegos en línea</a:t>
            </a:r>
            <a:endParaRPr/>
          </a:p>
        </p:txBody>
      </p:sp>
      <p:pic>
        <p:nvPicPr>
          <p:cNvPr descr="Ajedrez: un juego complejo que posibilita modelar la toma de decisiones –  ICC – Instituto de Ciencias de la Computación"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102" y="2894728"/>
            <a:ext cx="6744158" cy="3793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 sz="4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Metodología de Desarrollo</a:t>
            </a:r>
            <a:endParaRPr/>
          </a:p>
        </p:txBody>
      </p:sp>
      <p:sp>
        <p:nvSpPr>
          <p:cNvPr id="190" name="Google Shape;190;p6"/>
          <p:cNvSpPr txBox="1"/>
          <p:nvPr>
            <p:ph idx="1" type="body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s-CL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El proyecto se desarrollará utilizando la metodología ágil Scrum, permitiendo entregas incrementales, adaptación al cambio y mejora continua.</a:t>
            </a:r>
            <a:endParaRPr/>
          </a:p>
        </p:txBody>
      </p:sp>
      <p:pic>
        <p:nvPicPr>
          <p:cNvPr descr="Scrum: la guía actualizada para mejorar la gestión de proyectos" id="191" name="Google Shape;1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326" y="2912956"/>
            <a:ext cx="6749592" cy="3796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/>
              <a:t>Nuestro Stack</a:t>
            </a:r>
            <a:endParaRPr/>
          </a:p>
        </p:txBody>
      </p:sp>
      <p:pic>
        <p:nvPicPr>
          <p:cNvPr descr="React original wordmark logo - free Icon PNG, SV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77" y="2357486"/>
            <a:ext cx="1878745" cy="1878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dejs Icons - Free Download in SVG, PNG" id="198" name="Google Shape;1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3866" y="2274991"/>
            <a:ext cx="1878745" cy="1878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stgresql llano marca logo - Icono gratis PNG, SVG" id="199" name="Google Shape;1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0155" y="2123497"/>
            <a:ext cx="1976487" cy="197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introducción a FastAPI. FastAPI es un framework web moderno … | by  mrGoonies | Medium" id="200" name="Google Shape;2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6322" y="4848677"/>
            <a:ext cx="3266388" cy="1633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/>
          <p:nvPr>
            <p:ph type="title"/>
          </p:nvPr>
        </p:nvSpPr>
        <p:spPr>
          <a:xfrm>
            <a:off x="685346" y="124375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/>
              <a:t>Diagrama de Arquitectura</a:t>
            </a:r>
            <a:endParaRPr/>
          </a:p>
        </p:txBody>
      </p:sp>
      <p:pic>
        <p:nvPicPr>
          <p:cNvPr id="206" name="Google Shape;20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568" y="1125833"/>
            <a:ext cx="4458878" cy="560779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/>
              <a:t>Roadmap</a:t>
            </a:r>
            <a:endParaRPr/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93" y="2200759"/>
            <a:ext cx="9144000" cy="3172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s-CL" sz="4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Conclusión</a:t>
            </a:r>
            <a:endParaRPr/>
          </a:p>
        </p:txBody>
      </p:sp>
      <p:sp>
        <p:nvSpPr>
          <p:cNvPr id="218" name="Google Shape;218;p11"/>
          <p:cNvSpPr txBox="1"/>
          <p:nvPr>
            <p:ph idx="1" type="body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s-CL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PadelHub busca resolver una necesidad real del mercado del pádel utilizando una metodología ágil que asegura calidad, orden y evolución constante del producto.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izarra">
  <a:themeElements>
    <a:clrScheme name="Pizarra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